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core choice: this is not text-to-SQL. The LLM never owns the numbers. Four workbooks and 293K rows were converted into a governed semantic layer; five tools answer executive questions, while the model selects evidence and writes the brief. Emphasize that the prototype is deployed and tested, not just a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 45–60 second demo. Ask: ‘What drove Store Revenue last week, and where should we act?’ Then ask a follow-up such as ‘Which stores explain the decline?’ Point out the exact dates, evidence-linked exhibits, action, and collapsed methods. If the live demo is unavailable, click the demo-video button. Record the video into demo/alo_business_analyst_demo.mp4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Excel is ingested once; the audit established source ownership and blocked unsafe combinations. SQLite simulates a warehouse semantic layer. Five deterministic tools expose only governed analyses. DeepSeek selects tools but cannot query SQL directly. The final response is structured: each finding references an evidence index and a supported visual. In production, swap the repository connection for the warehouse without redesigning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anchor business insight. Store Revenue declined $132K, or 0.9%, week over week. Conversion Rate contributed negative $472K, while AOV and Traffic offset $339K. Ten stores account for $311K of gross decline; gains elsewhere offset $179K. The tool identifies traffic as the largest negative operating contribution for the five worst stores, but this is a diagnostic signal—not proof of cause—so validate with store managers and missing operational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showing judgment about limitations. The most important next step is not a larger model. First reconcile GA versus commerce and Retail category versus store definitions. Then add the operating levers the current extracts lack: spend, inventory, promotion, price, customer, costs, and labor. Pilot the workflow with leaders and measure both analytical quality and whether recommended actions create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emp-alo-case-study-clyugcdbazahif33twk2ss.streamlit.app/" TargetMode="External"/><Relationship Id="rId4" Type="http://schemas.openxmlformats.org/officeDocument/2006/relationships/hyperlink" Target="https://github.com/eeshansrivastava89/temp-alo-case-study/blob/main/demo/alo_business_analyst_demo.mp4" TargetMode="External"/><Relationship Id="rId5" Type="http://schemas.openxmlformats.org/officeDocument/2006/relationships/hyperlink" Target="https://github.com/eeshansrivastava89/temp-alo-case-study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A7F72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2B3C"/>
                </a:solidFill>
                <a:latin typeface="Arial"/>
              </a:rPr>
              <a:t>Governed AI turns fragmented Digital + Retail extracts into decision-ready answers—without letting the model invent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3840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F6B75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078992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6B75"/>
                </a:solidFill>
                <a:latin typeface="Arial"/>
              </a:rPr>
              <a:t>A four-hour prototype focused on the leadership job to be done: understand performance, isolate drivers, decide where to act, and know what must be validated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19072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73152" cy="841248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37943"/>
            <a:ext cx="3246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12B3C"/>
                </a:solidFill>
                <a:latin typeface="Arial"/>
              </a:rPr>
              <a:t>293K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03704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5"/>
                </a:solidFill>
                <a:latin typeface="Arial"/>
              </a:rPr>
              <a:t>source rows ingested from four workbooks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719072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719072"/>
            <a:ext cx="73152" cy="841248"/>
          </a:xfrm>
          <a:prstGeom prst="rect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837943"/>
            <a:ext cx="3246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12B3C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203704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5"/>
                </a:solidFill>
                <a:latin typeface="Arial"/>
              </a:rPr>
              <a:t>governed analytical tools; no arbitrary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719072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8" y="1719072"/>
            <a:ext cx="73152" cy="841248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837943"/>
            <a:ext cx="32461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12B3C"/>
                </a:solidFill>
                <a:latin typeface="Arial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203704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5"/>
                </a:solidFill>
                <a:latin typeface="Arial"/>
              </a:rPr>
              <a:t>automated contract and presentation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816352"/>
            <a:ext cx="3520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A7F72"/>
                </a:solidFill>
                <a:latin typeface="Arial"/>
              </a:rPr>
              <a:t>THE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36392"/>
            <a:ext cx="3401568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7212B"/>
                </a:solidFill>
                <a:latin typeface="Arial"/>
              </a:rPr>
              <a:t>Executives receive separate commerce, GA, store, and category extracts with inconsistent grains and definitions.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24528"/>
            <a:ext cx="3401568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5"/>
                </a:solidFill>
                <a:latin typeface="Arial"/>
              </a:rPr>
              <a:t>A generic chatbot would amplify ambiguity rather than resolve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2816352"/>
            <a:ext cx="3520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A7F72"/>
                </a:solidFill>
                <a:latin typeface="Arial"/>
              </a:rPr>
              <a:t>THE DESIGN CHOICE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3136392"/>
            <a:ext cx="3401568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7212B"/>
                </a:solidFill>
                <a:latin typeface="Arial"/>
              </a:rPr>
              <a:t>Python and SQL calculate every figure; the model chooses validated tools, synthesizes findings, and links each claim to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4224528"/>
            <a:ext cx="3401568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5"/>
                </a:solidFill>
                <a:latin typeface="Arial"/>
              </a:rPr>
              <a:t>Source ownership and blocked metrics are explicit—not hidden fallbacks.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16352"/>
            <a:ext cx="3520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A7F72"/>
                </a:solidFill>
                <a:latin typeface="Arial"/>
              </a:rPr>
              <a:t>THE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3136392"/>
            <a:ext cx="3401568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7212B"/>
                </a:solidFill>
                <a:latin typeface="Arial"/>
              </a:rPr>
              <a:t>A deployed analyst answers follow-ups with precise periods, TY/LY labels, exhibits, methods, and practical next actions.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4224528"/>
            <a:ext cx="3401568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5"/>
                </a:solidFill>
                <a:latin typeface="Arial"/>
              </a:rPr>
              <a:t>The same semantic contract powers an executive dashboard and auditable notebook.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321808"/>
            <a:ext cx="11173968" cy="822960"/>
          </a:xfrm>
          <a:prstGeom prst="roundRect">
            <a:avLst>
              <a:gd name="adj" fmla="val 8000"/>
            </a:avLst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513832"/>
            <a:ext cx="13258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C8BD"/>
                </a:solidFill>
                <a:latin typeface="Arial"/>
              </a:rPr>
              <a:t>DESIGN 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477256"/>
            <a:ext cx="9098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Govern the calculations and evidence; preserve model freedom in tool selection and executive synthesis.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74536"/>
            <a:ext cx="11173968" cy="10972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629400"/>
            <a:ext cx="98755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F6B75"/>
                </a:solidFill>
                <a:latin typeface="Arial"/>
              </a:rPr>
              <a:t>Source: case-study brief; application repository and validation suite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6629400"/>
            <a:ext cx="12984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F6B75"/>
                </a:solidFill>
                <a:latin typeface="Arial"/>
              </a:rPr>
              <a:t>AI Business Analyst case study  | 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A7F72"/>
                </a:solidFill>
                <a:latin typeface="Arial"/>
              </a:rPr>
              <a:t>PRODUCT EXPERIENCE +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2B3C"/>
                </a:solidFill>
                <a:latin typeface="Arial"/>
              </a:rPr>
              <a:t>An executive asks one question; the agent returns a quantified answer, matched evidence, and a decision—not raw model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3840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F6B75"/>
                </a:solidFill>
                <a:latin typeface="Arial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7818120" cy="5074920"/>
          </a:xfrm>
          <a:prstGeom prst="roundRect">
            <a:avLst>
              <a:gd name="adj" fmla="val 8000"/>
            </a:avLst>
          </a:prstGeom>
          <a:solidFill>
            <a:srgbClr val="0E141A"/>
          </a:solidFill>
          <a:ln w="10160">
            <a:solidFill>
              <a:srgbClr val="273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89888"/>
            <a:ext cx="20116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B99A5"/>
                </a:solidFill>
                <a:latin typeface="Arial"/>
              </a:rPr>
              <a:t>AI BUSINESS ANALYST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91640"/>
            <a:ext cx="7296912" cy="530352"/>
          </a:xfrm>
          <a:prstGeom prst="roundRect">
            <a:avLst>
              <a:gd name="adj" fmla="val 8000"/>
            </a:avLst>
          </a:prstGeom>
          <a:solidFill>
            <a:srgbClr val="1B232C"/>
          </a:solidFill>
          <a:ln w="10160">
            <a:solidFill>
              <a:srgbClr val="303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47088"/>
            <a:ext cx="6903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What drove Store Revenue last week, and where should we act?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70408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8A5AF"/>
                </a:solidFill>
                <a:latin typeface="Arial"/>
              </a:rPr>
              <a:t>2026-06-22 to 2026-06-28  |  vs. 2026-06-15 to 2026-06-21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2"/>
            <a:ext cx="711403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Store Revenue fell $132K (0.9%) as conversion outweighed traffic and AOV gains.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55264"/>
            <a:ext cx="7059168" cy="749808"/>
          </a:xfrm>
          <a:prstGeom prst="roundRect">
            <a:avLst>
              <a:gd name="adj" fmla="val 8000"/>
            </a:avLst>
          </a:prstGeom>
          <a:solidFill>
            <a:srgbClr val="141D24"/>
          </a:solidFill>
          <a:ln w="10160">
            <a:solidFill>
              <a:srgbClr val="2A3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56432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6C8BD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447288"/>
            <a:ext cx="629107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Store Conversion Rate contributed </a:t>
            </a:r>
            <a:r>
              <a:rPr sz="1050" b="1">
                <a:solidFill>
                  <a:srgbClr val="FF7777"/>
                </a:solidFill>
                <a:latin typeface="Arial"/>
              </a:rPr>
              <a:t>−$472K</a:t>
            </a:r>
            <a:r>
              <a:rPr sz="1050" b="0">
                <a:solidFill>
                  <a:srgbClr val="FFFFFF"/>
                </a:solidFill>
                <a:latin typeface="Arial"/>
              </a:rPr>
              <a:t>; AOV and Traffic offset </a:t>
            </a:r>
            <a:r>
              <a:rPr sz="1050" b="1">
                <a:solidFill>
                  <a:srgbClr val="6FD09D"/>
                </a:solidFill>
                <a:latin typeface="Arial"/>
              </a:rPr>
              <a:t>+$339K</a:t>
            </a:r>
            <a:r>
              <a:rPr sz="1050" b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4133087"/>
            <a:ext cx="13716" cy="768096"/>
          </a:xfrm>
          <a:prstGeom prst="rect">
            <a:avLst/>
          </a:prstGeom>
          <a:solidFill>
            <a:srgbClr val="657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142232"/>
            <a:ext cx="91440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AAB4BC"/>
                </a:solidFill>
                <a:latin typeface="Arial"/>
              </a:rPr>
              <a:t>Conversion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4137" y="4160520"/>
            <a:ext cx="2330622" cy="118872"/>
          </a:xfrm>
          <a:prstGeom prst="rect">
            <a:avLst/>
          </a:prstGeom>
          <a:solidFill>
            <a:srgbClr val="C7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057" y="4114800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rial"/>
              </a:rPr>
              <a:t>−$472K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416552"/>
            <a:ext cx="91440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AAB4BC"/>
                </a:solidFill>
                <a:latin typeface="Arial"/>
              </a:rPr>
              <a:t>AOV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4434840"/>
            <a:ext cx="1412199" cy="118872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0967" y="4389120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rial"/>
              </a:rPr>
              <a:t>+$286K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690872"/>
            <a:ext cx="91440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AAB4BC"/>
                </a:solidFill>
                <a:latin typeface="Arial"/>
              </a:rPr>
              <a:t>Traffic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4709160"/>
            <a:ext cx="261701" cy="118872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20469" y="4663440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Arial"/>
              </a:rPr>
              <a:t>+$53K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148072"/>
            <a:ext cx="7059168" cy="713232"/>
          </a:xfrm>
          <a:prstGeom prst="roundRect">
            <a:avLst>
              <a:gd name="adj" fmla="val 8000"/>
            </a:avLst>
          </a:prstGeom>
          <a:solidFill>
            <a:srgbClr val="132A27"/>
          </a:solidFill>
          <a:ln w="10160">
            <a:solidFill>
              <a:srgbClr val="27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358384"/>
            <a:ext cx="5486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6C8BD"/>
                </a:solidFill>
                <a:latin typeface="Arial"/>
              </a:rP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5294376"/>
            <a:ext cx="59893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Arial"/>
              </a:rPr>
              <a:t>Validate local demand and operations at the ten stores driving $311K of gross Store Revenue decline.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989320"/>
            <a:ext cx="6903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99A5"/>
                </a:solidFill>
                <a:latin typeface="Arial"/>
              </a:rPr>
              <a:t>Each finding is linked to a validated tool result; methods and source files remain inspectable.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1170432"/>
            <a:ext cx="3081528" cy="507492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1444752"/>
            <a:ext cx="12344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A7F72"/>
                </a:solidFill>
                <a:latin typeface="Arial"/>
              </a:rPr>
              <a:t>DEMO PATH</a:t>
            </a:r>
          </a:p>
        </p:txBody>
      </p:sp>
      <p:sp>
        <p:nvSpPr>
          <p:cNvPr id="31" name="Oval 30"/>
          <p:cNvSpPr/>
          <p:nvPr/>
        </p:nvSpPr>
        <p:spPr>
          <a:xfrm>
            <a:off x="8887968" y="1847088"/>
            <a:ext cx="310896" cy="310896"/>
          </a:xfrm>
          <a:prstGeom prst="ellipse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8" y="1897380"/>
            <a:ext cx="31089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1837944"/>
            <a:ext cx="7315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12B3C"/>
                </a:solidFill>
                <a:latin typeface="Arial"/>
              </a:rPr>
              <a:t>Ask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2066543"/>
            <a:ext cx="198424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F6B75"/>
                </a:solidFill>
                <a:latin typeface="Arial"/>
              </a:rPr>
              <a:t>Natural-language question or follow-up</a:t>
            </a:r>
          </a:p>
        </p:txBody>
      </p:sp>
      <p:sp>
        <p:nvSpPr>
          <p:cNvPr id="35" name="Oval 34"/>
          <p:cNvSpPr/>
          <p:nvPr/>
        </p:nvSpPr>
        <p:spPr>
          <a:xfrm>
            <a:off x="8887968" y="2542032"/>
            <a:ext cx="310896" cy="310896"/>
          </a:xfrm>
          <a:prstGeom prst="ellipse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87968" y="2592324"/>
            <a:ext cx="31089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2532888"/>
            <a:ext cx="7315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12B3C"/>
                </a:solidFill>
                <a:latin typeface="Arial"/>
              </a:rPr>
              <a:t>Verify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2761488"/>
            <a:ext cx="198424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F6B75"/>
                </a:solidFill>
                <a:latin typeface="Arial"/>
              </a:rPr>
              <a:t>Exact period, metric definition, and evidence</a:t>
            </a:r>
          </a:p>
        </p:txBody>
      </p:sp>
      <p:sp>
        <p:nvSpPr>
          <p:cNvPr id="39" name="Oval 38"/>
          <p:cNvSpPr/>
          <p:nvPr/>
        </p:nvSpPr>
        <p:spPr>
          <a:xfrm>
            <a:off x="8887968" y="3236976"/>
            <a:ext cx="310896" cy="310896"/>
          </a:xfrm>
          <a:prstGeom prst="ellipse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87968" y="3287268"/>
            <a:ext cx="310896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3227832"/>
            <a:ext cx="7315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12B3C"/>
                </a:solidFill>
                <a:latin typeface="Arial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3456432"/>
            <a:ext cx="198424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F6B75"/>
                </a:solidFill>
                <a:latin typeface="Arial"/>
              </a:rPr>
              <a:t>Recommendation plus material caveat</a:t>
            </a:r>
          </a:p>
        </p:txBody>
      </p:sp>
      <p:pic>
        <p:nvPicPr>
          <p:cNvPr id="43" name="Picture 42" descr="app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4005072"/>
            <a:ext cx="1124712" cy="112471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204704" y="4096512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A7F72"/>
                </a:solidFill>
                <a:latin typeface="Arial"/>
              </a:rPr>
              <a:t>LIVE 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04704" y="4352544"/>
            <a:ext cx="1115568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2F6690"/>
                </a:solidFill>
                <a:latin typeface="Arial"/>
                <a:hlinkClick r:id="rId3"/>
              </a:rPr>
              <a:t>Open deployed prototype</a:t>
            </a:r>
          </a:p>
        </p:txBody>
      </p:sp>
      <p:sp>
        <p:nvSpPr>
          <p:cNvPr id="46" name="Rounded Rectangle 45">
            <a:hlinkClick r:id="rId4"/>
          </p:cNvPr>
          <p:cNvSpPr/>
          <p:nvPr/>
        </p:nvSpPr>
        <p:spPr>
          <a:xfrm>
            <a:off x="8887968" y="5321808"/>
            <a:ext cx="2432304" cy="475488"/>
          </a:xfrm>
          <a:prstGeom prst="round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97696" y="5468112"/>
            <a:ext cx="22128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Arial"/>
              </a:rPr>
              <a:t>▶  OPEN DEMO VIDEO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5943600"/>
            <a:ext cx="246888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1" u="sng">
                <a:solidFill>
                  <a:srgbClr val="2F6690"/>
                </a:solidFill>
                <a:latin typeface="Arial"/>
                <a:hlinkClick r:id="rId3"/>
              </a:rPr>
              <a:t>App</a:t>
            </a:r>
            <a:r>
              <a:rPr sz="750" b="0">
                <a:solidFill>
                  <a:srgbClr val="5F6B75"/>
                </a:solidFill>
                <a:latin typeface="Arial"/>
              </a:rPr>
              <a:t>   |   </a:t>
            </a:r>
            <a:r>
              <a:rPr sz="750" b="1" u="sng">
                <a:solidFill>
                  <a:srgbClr val="2F6690"/>
                </a:solidFill>
                <a:latin typeface="Arial"/>
                <a:hlinkClick r:id="rId5"/>
              </a:rPr>
              <a:t>GitHub</a:t>
            </a:r>
            <a:r>
              <a:rPr sz="750" b="0">
                <a:solidFill>
                  <a:srgbClr val="5F6B75"/>
                </a:solidFill>
                <a:latin typeface="Arial"/>
              </a:rPr>
              <a:t>   |   </a:t>
            </a:r>
            <a:r>
              <a:rPr sz="750" b="1" u="sng">
                <a:solidFill>
                  <a:srgbClr val="2F6690"/>
                </a:solidFill>
                <a:latin typeface="Arial"/>
                <a:hlinkClick r:id="rId4"/>
              </a:rPr>
              <a:t>Video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574536"/>
            <a:ext cx="11173968" cy="10972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629400"/>
            <a:ext cx="98755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F6B75"/>
                </a:solidFill>
                <a:latin typeface="Arial"/>
              </a:rPr>
              <a:t>Prototype: Streamlit Community Cloud | Video fallback path: demo/alo_business_analyst_demo.mp4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6629400"/>
            <a:ext cx="12984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F6B75"/>
                </a:solidFill>
                <a:latin typeface="Arial"/>
              </a:rPr>
              <a:t>AI Business Analyst case study  |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A7F72"/>
                </a:solidFill>
                <a:latin typeface="Arial"/>
              </a:rPr>
              <a:t>SOLUTION ARCHITECTURE + AI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2B3C"/>
                </a:solidFill>
                <a:latin typeface="Arial"/>
              </a:rPr>
              <a:t>A semantic layer—not the LLM—owns calculations, definitions, access, and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3840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F6B75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24712"/>
            <a:ext cx="10789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6B75"/>
                </a:solidFill>
                <a:latin typeface="Arial"/>
              </a:rPr>
              <a:t>The model has analytical freedom inside a deliberately narrow, auditable execution boundary.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73352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56231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A7F72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57984"/>
            <a:ext cx="135331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2B3C"/>
                </a:solidFill>
                <a:latin typeface="Arial"/>
              </a:rPr>
              <a:t>Excel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23744"/>
            <a:ext cx="13533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F6B75"/>
                </a:solidFill>
                <a:latin typeface="Arial"/>
              </a:rPr>
              <a:t>4 workbooks
293K rows</a:t>
            </a:r>
          </a:p>
        </p:txBody>
      </p:sp>
      <p:sp>
        <p:nvSpPr>
          <p:cNvPr id="11" name="Chevron 10"/>
          <p:cNvSpPr/>
          <p:nvPr/>
        </p:nvSpPr>
        <p:spPr>
          <a:xfrm>
            <a:off x="2189988" y="2258568"/>
            <a:ext cx="146304" cy="237744"/>
          </a:xfrm>
          <a:prstGeom prst="chevron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59152" y="1673352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1856231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A7F72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2157984"/>
            <a:ext cx="135331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2B3C"/>
                </a:solidFill>
                <a:latin typeface="Arial"/>
              </a:rPr>
              <a:t>Audit +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2523744"/>
            <a:ext cx="13533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F6B75"/>
                </a:solidFill>
                <a:latin typeface="Arial"/>
              </a:rPr>
              <a:t>grain, quality,
ownership</a:t>
            </a:r>
          </a:p>
        </p:txBody>
      </p:sp>
      <p:sp>
        <p:nvSpPr>
          <p:cNvPr id="16" name="Chevron 15"/>
          <p:cNvSpPr/>
          <p:nvPr/>
        </p:nvSpPr>
        <p:spPr>
          <a:xfrm>
            <a:off x="4046220" y="2258568"/>
            <a:ext cx="146304" cy="237744"/>
          </a:xfrm>
          <a:prstGeom prst="chevron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15384" y="1673352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856231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A7F72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157984"/>
            <a:ext cx="135331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2B3C"/>
                </a:solidFill>
                <a:latin typeface="Arial"/>
              </a:rPr>
              <a:t>SQLite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2523744"/>
            <a:ext cx="13533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F6B75"/>
                </a:solidFill>
                <a:latin typeface="Arial"/>
              </a:rPr>
              <a:t>4 facts + date
metric views</a:t>
            </a:r>
          </a:p>
        </p:txBody>
      </p:sp>
      <p:sp>
        <p:nvSpPr>
          <p:cNvPr id="21" name="Chevron 20"/>
          <p:cNvSpPr/>
          <p:nvPr/>
        </p:nvSpPr>
        <p:spPr>
          <a:xfrm>
            <a:off x="5902452" y="2258568"/>
            <a:ext cx="146304" cy="237744"/>
          </a:xfrm>
          <a:prstGeom prst="chevron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71616" y="1673352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856231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A7F72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157984"/>
            <a:ext cx="135331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2B3C"/>
                </a:solidFill>
                <a:latin typeface="Arial"/>
              </a:rPr>
              <a:t>Governed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523744"/>
            <a:ext cx="13533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F6B75"/>
                </a:solidFill>
                <a:latin typeface="Arial"/>
              </a:rPr>
              <a:t>summary, drivers,
rank, stores, forecast</a:t>
            </a:r>
          </a:p>
        </p:txBody>
      </p:sp>
      <p:sp>
        <p:nvSpPr>
          <p:cNvPr id="26" name="Chevron 25"/>
          <p:cNvSpPr/>
          <p:nvPr/>
        </p:nvSpPr>
        <p:spPr>
          <a:xfrm>
            <a:off x="7758684" y="2258568"/>
            <a:ext cx="146304" cy="237744"/>
          </a:xfrm>
          <a:prstGeom prst="chevron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27848" y="1673352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1856231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A7F72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157984"/>
            <a:ext cx="135331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2B3C"/>
                </a:solidFill>
                <a:latin typeface="Arial"/>
              </a:rPr>
              <a:t>LLM reasoning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523744"/>
            <a:ext cx="13533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F6B75"/>
                </a:solidFill>
                <a:latin typeface="Arial"/>
              </a:rPr>
              <a:t>select tools;
synthesize</a:t>
            </a:r>
          </a:p>
        </p:txBody>
      </p:sp>
      <p:sp>
        <p:nvSpPr>
          <p:cNvPr id="31" name="Chevron 30"/>
          <p:cNvSpPr/>
          <p:nvPr/>
        </p:nvSpPr>
        <p:spPr>
          <a:xfrm>
            <a:off x="9614916" y="2258568"/>
            <a:ext cx="146304" cy="237744"/>
          </a:xfrm>
          <a:prstGeom prst="chevron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84080" y="1673352"/>
            <a:ext cx="166420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48672" y="1856231"/>
            <a:ext cx="3200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A7F72"/>
                </a:solidFill>
                <a:latin typeface="Arial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2157984"/>
            <a:ext cx="135331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2B3C"/>
                </a:solidFill>
                <a:latin typeface="Arial"/>
              </a:rPr>
              <a:t>Executive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2523744"/>
            <a:ext cx="13533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5F6B75"/>
                </a:solidFill>
                <a:latin typeface="Arial"/>
              </a:rPr>
              <a:t>finding ↔ evidence
action + caveat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465576"/>
            <a:ext cx="2011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A7F72"/>
                </a:solidFill>
                <a:latin typeface="Arial"/>
              </a:rPr>
              <a:t>CONTROL POINTS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776472"/>
            <a:ext cx="2532888" cy="1252728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986784"/>
            <a:ext cx="21488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12B3C"/>
                </a:solidFill>
                <a:latin typeface="Arial"/>
              </a:rPr>
              <a:t>Metric ownership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315968"/>
            <a:ext cx="21488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5F6B75"/>
                </a:solidFill>
                <a:latin typeface="Arial"/>
              </a:rPr>
              <a:t>Commerce = Digital top line
GA = labeled diagnostics
Store = Retail KPIs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39" y="3776472"/>
            <a:ext cx="2532888" cy="1252728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3986784"/>
            <a:ext cx="21488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12B3C"/>
                </a:solidFill>
                <a:latin typeface="Arial"/>
              </a:rPr>
              <a:t>Period contract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315968"/>
            <a:ext cx="21488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5F6B75"/>
                </a:solidFill>
                <a:latin typeface="Arial"/>
              </a:rPr>
              <a:t>Mon–Sun complete weeks
63-day full window vs supplied LY
No invented LY dates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59" y="3776472"/>
            <a:ext cx="2532888" cy="1252728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986784"/>
            <a:ext cx="21488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12B3C"/>
                </a:solidFill>
                <a:latin typeface="Arial"/>
              </a:rPr>
              <a:t>Access boundary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315968"/>
            <a:ext cx="21488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5F6B75"/>
                </a:solidFill>
                <a:latin typeface="Arial"/>
              </a:rPr>
              <a:t>Read-only repository
Validated dimensions
No generated SQL or Python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3776472"/>
            <a:ext cx="2532888" cy="1252728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59" y="3986784"/>
            <a:ext cx="21488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12B3C"/>
                </a:solidFill>
                <a:latin typeface="Arial"/>
              </a:rPr>
              <a:t>Evidence contract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59" y="4315968"/>
            <a:ext cx="21488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5F6B75"/>
                </a:solidFill>
                <a:latin typeface="Arial"/>
              </a:rPr>
              <a:t>Every figure comes from a tool
Finding selects exact evidence
No chain-of-thought or raw JSON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340096"/>
            <a:ext cx="11173968" cy="713232"/>
          </a:xfrm>
          <a:prstGeom prst="roundRect">
            <a:avLst>
              <a:gd name="adj" fmla="val 8000"/>
            </a:avLst>
          </a:prstGeom>
          <a:solidFill>
            <a:srgbClr val="DC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5550408"/>
            <a:ext cx="13258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F6690"/>
                </a:solidFill>
                <a:latin typeface="Arial"/>
              </a:rPr>
              <a:t>PRODUCTION PATH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39112" y="5495544"/>
            <a:ext cx="9235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112B3C"/>
                </a:solidFill>
                <a:latin typeface="Arial"/>
              </a:rPr>
              <a:t>Replace SQLite with the enterprise warehouse; retain the repository, metric registry, tool contracts, tests, and evidence-linked response schema.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574536"/>
            <a:ext cx="11173968" cy="10972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6629400"/>
            <a:ext cx="98755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F6B75"/>
                </a:solidFill>
                <a:latin typeface="Arial"/>
              </a:rPr>
              <a:t>Source: application architecture and semantic contract in repository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78440" y="6629400"/>
            <a:ext cx="12984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F6B75"/>
                </a:solidFill>
                <a:latin typeface="Arial"/>
              </a:rPr>
              <a:t>AI Business Analyst case study  |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A7F72"/>
                </a:solidFill>
                <a:latin typeface="Arial"/>
              </a:rPr>
              <a:t>BUSINESS INSIGHT +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2B3C"/>
                </a:solidFill>
                <a:latin typeface="Arial"/>
              </a:rPr>
              <a:t>Store Revenue fell $132K WoW because conversion erased traffic and AOV gains; the risk is concentrated enough to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3840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F6B75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7899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B75"/>
                </a:solidFill>
                <a:latin typeface="Arial"/>
              </a:rPr>
              <a:t>Latest complete week: June 22–28, 2026 vs June 15–21, 2026 | Store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94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A7F72"/>
                </a:solidFill>
                <a:latin typeface="Arial"/>
              </a:rPr>
              <a:t>STORE REVENUE CHANGE DECOMPOSITION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5394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F6B75"/>
                </a:solidFill>
                <a:latin typeface="Arial"/>
              </a:rPr>
              <a:t>$K contribution to week-over-week Store Revenue change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2130552"/>
            <a:ext cx="12801" cy="1874519"/>
          </a:xfrm>
          <a:prstGeom prst="rect">
            <a:avLst/>
          </a:prstGeom>
          <a:solidFill>
            <a:srgbClr val="8994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31136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7212B"/>
                </a:solidFill>
                <a:latin typeface="Arial"/>
              </a:rPr>
              <a:t>Conversion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0299" y="2240280"/>
            <a:ext cx="2675900" cy="201168"/>
          </a:xfrm>
          <a:prstGeom prst="rect">
            <a:avLst/>
          </a:prstGeom>
          <a:solidFill>
            <a:srgbClr val="C7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643" y="2249424"/>
            <a:ext cx="6126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C74646"/>
                </a:solidFill>
                <a:latin typeface="Arial"/>
              </a:rPr>
              <a:t>−$472K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7212B"/>
                </a:solidFill>
                <a:latin typeface="Arial"/>
              </a:rPr>
              <a:t>AOV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679192"/>
            <a:ext cx="1621414" cy="201168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0766" y="2688336"/>
            <a:ext cx="6126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E8E5A"/>
                </a:solidFill>
                <a:latin typeface="Arial"/>
              </a:rPr>
              <a:t>+$286K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7212B"/>
                </a:solidFill>
                <a:latin typeface="Arial"/>
              </a:rPr>
              <a:t>Traffic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3118104"/>
            <a:ext cx="300471" cy="201168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9823" y="3127248"/>
            <a:ext cx="6126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E8E5A"/>
                </a:solidFill>
                <a:latin typeface="Arial"/>
              </a:rPr>
              <a:t>+$53K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47872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7212B"/>
                </a:solidFill>
                <a:latin typeface="Arial"/>
              </a:rPr>
              <a:t>Net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7855" y="3557016"/>
            <a:ext cx="748344" cy="201168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1199" y="3566160"/>
            <a:ext cx="6126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12B3C"/>
                </a:solidFill>
                <a:latin typeface="Arial"/>
              </a:rPr>
              <a:t>−$132K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105656"/>
            <a:ext cx="42793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12B3C"/>
                </a:solidFill>
                <a:latin typeface="Arial"/>
              </a:rPr>
              <a:t>−$472K + $286K + $53K = −$132K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416552"/>
            <a:ext cx="4572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F6B75"/>
                </a:solidFill>
                <a:latin typeface="Arial"/>
              </a:rPr>
              <a:t>Shapley contributions reconcile to the observed Store Revenue change.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554480"/>
            <a:ext cx="4956048" cy="3364992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8" y="1810512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A7F72"/>
                </a:solidFill>
                <a:latin typeface="Arial"/>
              </a:rPr>
              <a:t>THE DECLINE IS CONCENTRATED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2148840"/>
            <a:ext cx="4315968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12B3C"/>
                </a:solidFill>
                <a:latin typeface="Arial"/>
              </a:rPr>
              <a:t>10 stores</a:t>
            </a:r>
            <a:r>
              <a:rPr sz="1100" b="0">
                <a:solidFill>
                  <a:srgbClr val="5F6B75"/>
                </a:solidFill>
                <a:latin typeface="Arial"/>
              </a:rPr>
              <a:t> generated </a:t>
            </a:r>
            <a:r>
              <a:rPr sz="1900" b="1">
                <a:solidFill>
                  <a:srgbClr val="C74646"/>
                </a:solidFill>
                <a:latin typeface="Arial"/>
              </a:rPr>
              <a:t>−$311K</a:t>
            </a:r>
            <a:r>
              <a:rPr sz="1100" b="0">
                <a:solidFill>
                  <a:srgbClr val="5F6B75"/>
                </a:solidFill>
                <a:latin typeface="Arial"/>
              </a:rPr>
              <a:t> of gross decline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2587752"/>
            <a:ext cx="4151376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B75"/>
                </a:solidFill>
                <a:latin typeface="Arial"/>
              </a:rPr>
              <a:t>Other stores offset +$179K, resulting in the −$132K portfolio decline.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3044952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5F6B75"/>
                </a:solidFill>
                <a:latin typeface="Arial"/>
              </a:rPr>
              <a:t>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3044952"/>
            <a:ext cx="10789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5F6B75"/>
                </a:solidFill>
                <a:latin typeface="Arial"/>
              </a:rPr>
              <a:t>Revenue 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044952"/>
            <a:ext cx="7498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5F6B75"/>
                </a:solidFill>
                <a:latin typeface="Arial"/>
              </a:rPr>
              <a:t>Δ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8048" y="3044952"/>
            <a:ext cx="1508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5F6B75"/>
                </a:solidFill>
                <a:latin typeface="Arial"/>
              </a:rPr>
              <a:t>Primary driver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67728" y="3287268"/>
            <a:ext cx="4242816" cy="233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13448" y="3319272"/>
            <a:ext cx="68580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>
                <a:solidFill>
                  <a:srgbClr val="17212B"/>
                </a:solidFill>
                <a:latin typeface="Arial"/>
              </a:rPr>
              <a:t>10072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3319272"/>
            <a:ext cx="107899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>
                <a:solidFill>
                  <a:srgbClr val="C74646"/>
                </a:solidFill>
                <a:latin typeface="Arial"/>
              </a:rPr>
              <a:t>−$55K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319272"/>
            <a:ext cx="7498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C74646"/>
                </a:solidFill>
                <a:latin typeface="Arial"/>
              </a:rPr>
              <a:t>−27.9%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48" y="3319272"/>
            <a:ext cx="15087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17212B"/>
                </a:solidFill>
                <a:latin typeface="Arial"/>
              </a:rPr>
              <a:t>Traffic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7728" y="3552444"/>
            <a:ext cx="4242816" cy="233172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3448" y="3584448"/>
            <a:ext cx="68580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>
                <a:solidFill>
                  <a:srgbClr val="17212B"/>
                </a:solidFill>
                <a:latin typeface="Arial"/>
              </a:rPr>
              <a:t>10083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3584448"/>
            <a:ext cx="107899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>
                <a:solidFill>
                  <a:srgbClr val="C74646"/>
                </a:solidFill>
                <a:latin typeface="Arial"/>
              </a:rPr>
              <a:t>−$42K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584448"/>
            <a:ext cx="7498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C74646"/>
                </a:solidFill>
                <a:latin typeface="Arial"/>
              </a:rPr>
              <a:t>−17.3%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8048" y="3584448"/>
            <a:ext cx="15087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17212B"/>
                </a:solidFill>
                <a:latin typeface="Arial"/>
              </a:rPr>
              <a:t>Traffic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67728" y="3817620"/>
            <a:ext cx="4242816" cy="233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13448" y="3849624"/>
            <a:ext cx="68580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>
                <a:solidFill>
                  <a:srgbClr val="17212B"/>
                </a:solidFill>
                <a:latin typeface="Arial"/>
              </a:rPr>
              <a:t>10058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3849624"/>
            <a:ext cx="107899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>
                <a:solidFill>
                  <a:srgbClr val="C74646"/>
                </a:solidFill>
                <a:latin typeface="Arial"/>
              </a:rPr>
              <a:t>−$36K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3849624"/>
            <a:ext cx="7498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C74646"/>
                </a:solidFill>
                <a:latin typeface="Arial"/>
              </a:rPr>
              <a:t>−39.9%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8048" y="3849624"/>
            <a:ext cx="15087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17212B"/>
                </a:solidFill>
                <a:latin typeface="Arial"/>
              </a:rPr>
              <a:t>Traffic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67728" y="4082796"/>
            <a:ext cx="4242816" cy="233172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13448" y="4114800"/>
            <a:ext cx="68580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>
                <a:solidFill>
                  <a:srgbClr val="17212B"/>
                </a:solidFill>
                <a:latin typeface="Arial"/>
              </a:rPr>
              <a:t>10174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4114800"/>
            <a:ext cx="107899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>
                <a:solidFill>
                  <a:srgbClr val="C74646"/>
                </a:solidFill>
                <a:latin typeface="Arial"/>
              </a:rPr>
              <a:t>−$30K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4114800"/>
            <a:ext cx="7498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C74646"/>
                </a:solidFill>
                <a:latin typeface="Arial"/>
              </a:rPr>
              <a:t>−28.5%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8048" y="4114800"/>
            <a:ext cx="15087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17212B"/>
                </a:solidFill>
                <a:latin typeface="Arial"/>
              </a:rPr>
              <a:t>Traffic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67728" y="4347972"/>
            <a:ext cx="4242816" cy="233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379976"/>
            <a:ext cx="68580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>
                <a:solidFill>
                  <a:srgbClr val="17212B"/>
                </a:solidFill>
                <a:latin typeface="Arial"/>
              </a:rPr>
              <a:t>50122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99248" y="4379976"/>
            <a:ext cx="107899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1">
                <a:solidFill>
                  <a:srgbClr val="C74646"/>
                </a:solidFill>
                <a:latin typeface="Arial"/>
              </a:rPr>
              <a:t>−$28K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4379976"/>
            <a:ext cx="7498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C74646"/>
                </a:solidFill>
                <a:latin typeface="Arial"/>
              </a:rPr>
              <a:t>−19.2%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48" y="4379976"/>
            <a:ext cx="15087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17212B"/>
                </a:solidFill>
                <a:latin typeface="Arial"/>
              </a:rPr>
              <a:t>Traffic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230368"/>
            <a:ext cx="11173968" cy="859536"/>
          </a:xfrm>
          <a:prstGeom prst="roundRect">
            <a:avLst>
              <a:gd name="adj" fmla="val 8000"/>
            </a:avLst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5440680"/>
            <a:ext cx="16002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C8BD"/>
                </a:solidFill>
                <a:latin typeface="Arial"/>
              </a:rPr>
              <a:t>RECOMMENDED ACTION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31720" y="5376672"/>
            <a:ext cx="89154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Start with store-manager validation at the ten declining stores; test local demand, operating hours, staffing, service, and availability before committing incremental spend.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6574536"/>
            <a:ext cx="11173968" cy="10972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6629400"/>
            <a:ext cx="98755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F6B75"/>
                </a:solidFill>
                <a:latin typeface="Arial"/>
              </a:rPr>
              <a:t>Source: Retail daily/store workbook; Shapley decomposition; values rounded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78440" y="6629400"/>
            <a:ext cx="12984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F6B75"/>
                </a:solidFill>
                <a:latin typeface="Arial"/>
              </a:rPr>
              <a:t>AI Business Analyst case study  |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A7F72"/>
                </a:solidFill>
                <a:latin typeface="Arial"/>
              </a:rPr>
              <a:t>ASSUMPTIONS, REQUESTED DATA +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2B3C"/>
                </a:solidFill>
                <a:latin typeface="Arial"/>
              </a:rPr>
              <a:t>The next value step is data reconciliation and operating context—not a more complex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74320"/>
            <a:ext cx="38404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5F6B75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0789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6B75"/>
                </a:solidFill>
                <a:latin typeface="Arial"/>
              </a:rPr>
              <a:t>The prototype is decision-support ready within its contract; production decisions require richer inputs and owner sign-off.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32461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A7F72"/>
                </a:solidFill>
                <a:latin typeface="Arial"/>
              </a:rPr>
              <a:t>KNOWN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92807"/>
            <a:ext cx="3273552" cy="832104"/>
          </a:xfrm>
          <a:prstGeom prst="roundRect">
            <a:avLst>
              <a:gd name="adj" fmla="val 8000"/>
            </a:avLst>
          </a:prstGeom>
          <a:solidFill>
            <a:srgbClr val="F8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105156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74646"/>
                </a:solidFill>
                <a:latin typeface="Arial"/>
              </a:rPr>
              <a:t>GA ≠ 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11679"/>
            <a:ext cx="1828800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17212B"/>
                </a:solidFill>
                <a:latin typeface="Arial"/>
              </a:rPr>
              <a:t>GA revenue/orders are lower while GA sessions are higher; treat tracking and traffic quality as hypotheses.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98648"/>
            <a:ext cx="3273552" cy="832104"/>
          </a:xfrm>
          <a:prstGeom prst="roundRect">
            <a:avLst>
              <a:gd name="adj" fmla="val 8000"/>
            </a:avLst>
          </a:prstGeom>
          <a:solidFill>
            <a:srgbClr val="F8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063240"/>
            <a:ext cx="105156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74646"/>
                </a:solidFill>
                <a:latin typeface="Arial"/>
              </a:rPr>
              <a:t>Category is 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017520"/>
            <a:ext cx="1828800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17212B"/>
                </a:solidFill>
                <a:latin typeface="Arial"/>
              </a:rPr>
              <a:t>Retail category totals are ~14–19× Store totals; hierarchy, extract, and scaling definitions require reconciliation.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04487"/>
            <a:ext cx="3273552" cy="832104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069079"/>
            <a:ext cx="105156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89432"/>
                </a:solidFill>
                <a:latin typeface="Arial"/>
              </a:rPr>
              <a:t>History is short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23359"/>
            <a:ext cx="1828800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70" b="0">
                <a:solidFill>
                  <a:srgbClr val="17212B"/>
                </a:solidFill>
                <a:latin typeface="Arial"/>
              </a:rPr>
              <a:t>63 daily dates span May 3–July 4; the forecast is a directional weekday baseline, not an operating plan.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3944" y="1591056"/>
            <a:ext cx="33375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A7F72"/>
                </a:solidFill>
                <a:latin typeface="Arial"/>
              </a:rPr>
              <a:t>DATA TO REQUEST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23944" y="1892807"/>
            <a:ext cx="3355848" cy="59436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2011679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12B3C"/>
                </a:solidFill>
                <a:latin typeface="Arial"/>
              </a:rPr>
              <a:t>Definitions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9824" y="1984248"/>
            <a:ext cx="1801368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5F6B75"/>
                </a:solidFill>
                <a:latin typeface="Arial"/>
              </a:rPr>
              <a:t>Metric dictionary; currency; gross/net; fiscal calendar; store/category hierarchy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23944" y="2642615"/>
            <a:ext cx="3355848" cy="59436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761487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12B3C"/>
                </a:solidFill>
                <a:latin typeface="Arial"/>
              </a:rPr>
              <a:t>Demand + 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9824" y="2734056"/>
            <a:ext cx="1801368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5F6B75"/>
                </a:solidFill>
                <a:latin typeface="Arial"/>
              </a:rPr>
              <a:t>Transactions; customer/cohort IDs; traffic source; geography; loyalty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23944" y="3392424"/>
            <a:ext cx="3355848" cy="59436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3511296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12B3C"/>
                </a:solidFill>
                <a:latin typeface="Arial"/>
              </a:rPr>
              <a:t>Commercial levers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9824" y="3483864"/>
            <a:ext cx="1801368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5F6B75"/>
                </a:solidFill>
                <a:latin typeface="Arial"/>
              </a:rPr>
              <a:t>Marketing spend; impressions/clicks; promotions; price; inventory/availability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23944" y="4142231"/>
            <a:ext cx="3355848" cy="594360"/>
          </a:xfrm>
          <a:prstGeom prst="roundRect">
            <a:avLst>
              <a:gd name="adj" fmla="val 8000"/>
            </a:avLst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4261103"/>
            <a:ext cx="1143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12B3C"/>
                </a:solidFill>
                <a:latin typeface="Arial"/>
              </a:rPr>
              <a:t>Economics +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9824" y="4233671"/>
            <a:ext cx="1801368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5F6B75"/>
                </a:solidFill>
                <a:latin typeface="Arial"/>
              </a:rPr>
              <a:t>COGS/margin; returns; labor/hours; service; holidays; weather; market plans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27264" y="1591056"/>
            <a:ext cx="384962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A7F72"/>
                </a:solidFill>
                <a:latin typeface="Arial"/>
              </a:rPr>
              <a:t>PRODUCTION ROADMAP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27264" y="1892807"/>
            <a:ext cx="384962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27264" y="1892807"/>
            <a:ext cx="91440" cy="859536"/>
          </a:xfrm>
          <a:prstGeom prst="rect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65008" y="2020824"/>
            <a:ext cx="8046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A7F72"/>
                </a:solidFill>
                <a:latin typeface="Arial"/>
              </a:rPr>
              <a:t>0–30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7112" y="1993391"/>
            <a:ext cx="78638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12B3C"/>
                </a:solidFill>
                <a:latin typeface="Arial"/>
              </a:rPr>
              <a:t>Reconcile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2276856"/>
            <a:ext cx="3319272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F6B75"/>
                </a:solidFill>
                <a:latin typeface="Arial"/>
              </a:rPr>
              <a:t>Approve metric ownership, currency/accounting rules, GA instrumentation, and Retail hierarchy.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27264" y="2935224"/>
            <a:ext cx="384962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27264" y="2935224"/>
            <a:ext cx="91440" cy="859536"/>
          </a:xfrm>
          <a:prstGeom prst="rect">
            <a:avLst/>
          </a:prstGeom>
          <a:solidFill>
            <a:srgbClr val="2A7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8" y="3063240"/>
            <a:ext cx="8046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A7F72"/>
                </a:solidFill>
                <a:latin typeface="Arial"/>
              </a:rPr>
              <a:t>30–60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7112" y="3035808"/>
            <a:ext cx="78638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12B3C"/>
                </a:solidFill>
                <a:latin typeface="Arial"/>
              </a:rPr>
              <a:t>Connect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3319272"/>
            <a:ext cx="3319272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F6B75"/>
                </a:solidFill>
                <a:latin typeface="Arial"/>
              </a:rPr>
              <a:t>Point the repository at the warehouse; add spend, inventory, promotion, customer, and cost features.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27264" y="3977639"/>
            <a:ext cx="3849624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27264" y="3977639"/>
            <a:ext cx="91440" cy="859536"/>
          </a:xfrm>
          <a:prstGeom prst="rect">
            <a:avLst/>
          </a:prstGeom>
          <a:solidFill>
            <a:srgbClr val="1E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5008" y="4105655"/>
            <a:ext cx="80467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A7F72"/>
                </a:solidFill>
                <a:latin typeface="Arial"/>
              </a:rPr>
              <a:t>60–90 days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97112" y="4078224"/>
            <a:ext cx="78638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12B3C"/>
                </a:solidFill>
                <a:latin typeface="Arial"/>
              </a:rPr>
              <a:t>Prove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4361688"/>
            <a:ext cx="3319272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5F6B75"/>
                </a:solidFill>
                <a:latin typeface="Arial"/>
              </a:rPr>
              <a:t>Pilot with leaders; back-test recommendations; monitor quality, latency, drift, adoption, and business impact.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285232"/>
            <a:ext cx="11173968" cy="786384"/>
          </a:xfrm>
          <a:prstGeom prst="roundRect">
            <a:avLst>
              <a:gd name="adj" fmla="val 8000"/>
            </a:avLst>
          </a:prstGeom>
          <a:solidFill>
            <a:srgbClr val="E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495544"/>
            <a:ext cx="13898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E8E5A"/>
                </a:solidFill>
                <a:latin typeface="Arial"/>
              </a:rPr>
              <a:t>SUCCESS MEASURE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21408" y="5431536"/>
            <a:ext cx="90982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12B3C"/>
                </a:solidFill>
                <a:latin typeface="Arial"/>
              </a:rPr>
              <a:t>Faster executive decisions with fewer metric disputes—measured through answer accuracy, source traceability, adoption, time-to-insight, and validated action impact.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574536"/>
            <a:ext cx="11173968" cy="10972"/>
          </a:xfrm>
          <a:prstGeom prst="rect">
            <a:avLst/>
          </a:prstGeom>
          <a:solidFill>
            <a:srgbClr val="D6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629400"/>
            <a:ext cx="98755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F6B75"/>
                </a:solidFill>
                <a:latin typeface="Arial"/>
              </a:rPr>
              <a:t>Source: notebook data-quality findings and production design recommendations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6629400"/>
            <a:ext cx="12984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F6B75"/>
                </a:solidFill>
                <a:latin typeface="Arial"/>
              </a:rPr>
              <a:t>AI Business Analyst case study  |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Business Analyst — Digital &amp; Retail Case Study</dc:title>
  <dc:subject>Five-slide case-study presentation</dc:subject>
  <dc:creator>Eeshan Srivastava</dc:creator>
  <cp:keywords>AI business analyst, digital, retail, semantic layer, Streamlit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